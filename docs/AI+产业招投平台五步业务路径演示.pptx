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AI+产业/招投平台 · 全流程用户业务路径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从本地产业诊断到投后风控决策的数据驱动闭环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749808"/>
            <a:ext cx="11000232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987552"/>
            <a:ext cx="594360" cy="594360"/>
          </a:xfrm>
          <a:prstGeom prst="ellipse">
            <a:avLst/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923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AI产业诊断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08176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把产业名称转化为全国格局、南通强补延方向和招商机会清单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57232" y="1060704"/>
            <a:ext cx="14996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7232" y="106070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用户业务环节 1/5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66960" y="1399032"/>
            <a:ext cx="1353312" cy="0"/>
          </a:xfrm>
          <a:prstGeom prst="line">
            <a:avLst/>
          </a:prstGeom>
          <a:noFill/>
          <a:ln w="30480">
            <a:solidFill>
              <a:srgbClr val="1E70E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4360" y="1810512"/>
            <a:ext cx="11000232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E7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196596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9659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64208" y="1938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输入产业名称，选择分析范围，启动产业诊断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1965960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96596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全国分析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1965960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EAFBFC"/>
          </a:solidFill>
          <a:ln w="12700">
            <a:solidFill>
              <a:srgbClr val="EAFB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4544" y="196596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南通诊断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31552" y="1920240"/>
            <a:ext cx="1225296" cy="347472"/>
          </a:xfrm>
          <a:prstGeom prst="roundRect">
            <a:avLst>
              <a:gd name="adj" fmla="val 21053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31552" y="1975104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开始分析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2660904"/>
            <a:ext cx="4315968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660904"/>
            <a:ext cx="4315968" cy="64008"/>
          </a:xfrm>
          <a:prstGeom prst="roundRect">
            <a:avLst>
              <a:gd name="adj" fmla="val 42857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2807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全国行业洞察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2104" y="3319272"/>
            <a:ext cx="3840480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868680" y="34930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从宏观格局判断产业的规模、趋势、区域和竞争结构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9319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64208" y="3968496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EAF0F8"/>
          </a:solidFill>
          <a:ln w="1270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4208" y="3968496"/>
            <a:ext cx="1724558" cy="109728"/>
          </a:xfrm>
          <a:prstGeom prst="roundRect">
            <a:avLst>
              <a:gd name="adj" fmla="val 41667"/>
            </a:avLst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133088"/>
            <a:ext cx="3584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判断行业空间与发展阶段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区域分布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64208" y="4471416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EAF0F8"/>
          </a:solidFill>
          <a:ln w="1270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4208" y="4471416"/>
            <a:ext cx="1388059" cy="109728"/>
          </a:xfrm>
          <a:prstGeom prst="roundRect">
            <a:avLst>
              <a:gd name="adj" fmla="val 41667"/>
            </a:avLst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636008"/>
            <a:ext cx="3584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识别产业集聚与迁移方向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8680" y="49377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企业格局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664208" y="4974336"/>
            <a:ext cx="2103120" cy="109728"/>
          </a:xfrm>
          <a:prstGeom prst="roundRect">
            <a:avLst>
              <a:gd name="adj" fmla="val 41667"/>
            </a:avLst>
          </a:prstGeom>
          <a:solidFill>
            <a:srgbClr val="EAF0F8"/>
          </a:solidFill>
          <a:ln w="1270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4208" y="4974336"/>
            <a:ext cx="1093622" cy="109728"/>
          </a:xfrm>
          <a:prstGeom prst="roundRect">
            <a:avLst>
              <a:gd name="adj" fmla="val 41667"/>
            </a:avLst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138928"/>
            <a:ext cx="3584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定位龙头、专精特新与潜力企业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75504" y="2660904"/>
            <a:ext cx="2953512" cy="2971800"/>
          </a:xfrm>
          <a:prstGeom prst="roundRect">
            <a:avLst>
              <a:gd name="adj" fmla="val 4334"/>
            </a:avLst>
          </a:prstGeom>
          <a:solidFill>
            <a:srgbClr val="EAFB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75504" y="2660904"/>
            <a:ext cx="2953512" cy="64008"/>
          </a:xfrm>
          <a:prstGeom prst="roundRect">
            <a:avLst>
              <a:gd name="adj" fmla="val 42857"/>
            </a:avLst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3248" y="280720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南通强补延诊断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413248" y="3319272"/>
            <a:ext cx="2478024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5449824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把产业分析转化为本地行动方向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49824" y="3931920"/>
            <a:ext cx="239572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9824" y="3931920"/>
            <a:ext cx="73152" cy="502920"/>
          </a:xfrm>
          <a:prstGeom prst="roundRect">
            <a:avLst>
              <a:gd name="adj" fmla="val 25000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32704" y="4023360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32704" y="402336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强链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20256" y="4005072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放大已有优势环节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5449824" y="4535424"/>
            <a:ext cx="239572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49824" y="4535424"/>
            <a:ext cx="73152" cy="502920"/>
          </a:xfrm>
          <a:prstGeom prst="roundRect">
            <a:avLst>
              <a:gd name="adj" fmla="val 25000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2704" y="4626864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32704" y="4626864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补链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620256" y="4608576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识别薄弱和缺失环节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5449824" y="5138928"/>
            <a:ext cx="239572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49824" y="5138928"/>
            <a:ext cx="73152" cy="502920"/>
          </a:xfrm>
          <a:prstGeom prst="roundRect">
            <a:avLst>
              <a:gd name="adj" fmla="val 25000"/>
            </a:avLst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32704" y="5230368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EAFBFC"/>
          </a:solidFill>
          <a:ln w="12700">
            <a:solidFill>
              <a:srgbClr val="EAFBFC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32704" y="5230368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延链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620256" y="5212080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发现产业延伸和招商方向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8394192" y="2660904"/>
            <a:ext cx="320040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2660904"/>
            <a:ext cx="3200400" cy="64008"/>
          </a:xfrm>
          <a:prstGeom prst="roundRect">
            <a:avLst>
              <a:gd name="adj" fmla="val 42857"/>
            </a:avLst>
          </a:prstGeom>
          <a:solidFill>
            <a:srgbClr val="6554C0"/>
          </a:solidFill>
          <a:ln w="12700">
            <a:solidFill>
              <a:srgbClr val="6554C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31936" y="280720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AI诊断输出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8631936" y="3319272"/>
            <a:ext cx="2724912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686800" y="3493008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F1EEFF"/>
          </a:solidFill>
          <a:ln w="12700">
            <a:solidFill>
              <a:srgbClr val="F1EE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0" y="3493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686800" y="391363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从“看产业”走向“定方向”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723376" y="4462272"/>
            <a:ext cx="2432304" cy="0"/>
          </a:xfrm>
          <a:prstGeom prst="line">
            <a:avLst/>
          </a:prstGeom>
          <a:noFill/>
          <a:ln w="1524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686800" y="4800600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51392" y="4681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形成产业招商主题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686800" y="5111496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51392" y="4992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识别关键技术机会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686800" y="5422392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51392" y="5303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沉淀企业筛选条件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75488" y="5989320"/>
            <a:ext cx="11237976" cy="530352"/>
          </a:xfrm>
          <a:prstGeom prst="roundRect">
            <a:avLst>
              <a:gd name="adj" fmla="val 24138"/>
            </a:avLst>
          </a:prstGeom>
          <a:solidFill>
            <a:srgbClr val="EEF3FA"/>
          </a:solidFill>
          <a:ln w="12700">
            <a:solidFill>
              <a:srgbClr val="DCE6F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" y="60899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五链数据底座贯穿全流程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24231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1E70E8"/>
          </a:solidFill>
          <a:ln w="12700">
            <a:solidFill>
              <a:srgbClr val="1E70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231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040" dirty="0"/>
          </a:p>
        </p:txBody>
      </p:sp>
      <p:sp>
        <p:nvSpPr>
          <p:cNvPr id="77" name="Shape 75"/>
          <p:cNvSpPr/>
          <p:nvPr/>
        </p:nvSpPr>
        <p:spPr>
          <a:xfrm>
            <a:off x="38130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33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233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技术链</a:t>
            </a:r>
            <a:endParaRPr lang="en-US" sz="1040" dirty="0"/>
          </a:p>
        </p:txBody>
      </p:sp>
      <p:sp>
        <p:nvSpPr>
          <p:cNvPr id="80" name="Shape 78"/>
          <p:cNvSpPr/>
          <p:nvPr/>
        </p:nvSpPr>
        <p:spPr>
          <a:xfrm>
            <a:off x="54132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235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235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人才链</a:t>
            </a:r>
            <a:endParaRPr lang="en-US" sz="1040" dirty="0"/>
          </a:p>
        </p:txBody>
      </p:sp>
      <p:sp>
        <p:nvSpPr>
          <p:cNvPr id="83" name="Shape 81"/>
          <p:cNvSpPr/>
          <p:nvPr/>
        </p:nvSpPr>
        <p:spPr>
          <a:xfrm>
            <a:off x="70134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237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237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资本链</a:t>
            </a:r>
            <a:endParaRPr lang="en-US" sz="1040" dirty="0"/>
          </a:p>
        </p:txBody>
      </p:sp>
      <p:sp>
        <p:nvSpPr>
          <p:cNvPr id="86" name="Shape 84"/>
          <p:cNvSpPr/>
          <p:nvPr/>
        </p:nvSpPr>
        <p:spPr>
          <a:xfrm>
            <a:off x="86136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239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政策链</a:t>
            </a:r>
            <a:endParaRPr lang="en-US" sz="1040" dirty="0"/>
          </a:p>
        </p:txBody>
      </p:sp>
      <p:sp>
        <p:nvSpPr>
          <p:cNvPr id="89" name="Text 87"/>
          <p:cNvSpPr/>
          <p:nvPr/>
        </p:nvSpPr>
        <p:spPr>
          <a:xfrm>
            <a:off x="8229600" y="6574536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平台能力示意，实际结论以授权数据和业务审批为准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AI+产业/招投平台 · 全流程用户业务路径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从本地产业诊断到投后风控决策的数据驱动闭环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749808"/>
            <a:ext cx="11000232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987552"/>
            <a:ext cx="594360" cy="594360"/>
          </a:xfrm>
          <a:prstGeom prst="ellipse">
            <a:avLst/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923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智能招投定位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08176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以投资风格和产业缺口为约束，从“看产业”进入“找企业”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57232" y="1060704"/>
            <a:ext cx="14996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7232" y="106070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用户业务环节 2/5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66960" y="1399032"/>
            <a:ext cx="1353312" cy="0"/>
          </a:xfrm>
          <a:prstGeom prst="line">
            <a:avLst/>
          </a:prstGeom>
          <a:noFill/>
          <a:ln w="30480">
            <a:solidFill>
              <a:srgbClr val="F39A1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94360" y="17922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推荐策略由多类特征共同决定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08483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39A1B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投资风格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88920" y="208483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7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产业链补链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208483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8B9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区域偏好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78040" y="208483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成长与创新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72600" y="208483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2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1945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综合匹配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2798064"/>
            <a:ext cx="30175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798064"/>
            <a:ext cx="3017520" cy="64008"/>
          </a:xfrm>
          <a:prstGeom prst="roundRect">
            <a:avLst>
              <a:gd name="adj" fmla="val 42857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29443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多维筛选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2104" y="3456432"/>
            <a:ext cx="2542032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868680" y="35478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通过筛选条件控制候选范围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77824" y="3913632"/>
            <a:ext cx="146304" cy="146304"/>
          </a:xfrm>
          <a:prstGeom prst="rect">
            <a:avLst/>
          </a:prstGeom>
          <a:solidFill>
            <a:srgbClr val="F39A1B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89534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产业链节点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7824" y="4224528"/>
            <a:ext cx="146304" cy="146304"/>
          </a:xfrm>
          <a:prstGeom prst="rect">
            <a:avLst/>
          </a:prstGeom>
          <a:solidFill>
            <a:srgbClr val="F39A1B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2062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区域与落地意愿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77824" y="4535424"/>
            <a:ext cx="146304" cy="146304"/>
          </a:xfrm>
          <a:prstGeom prst="rect">
            <a:avLst/>
          </a:prstGeom>
          <a:solidFill>
            <a:srgbClr val="F39A1B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45171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企业成长阶段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" y="4846320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48280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资质与技术能力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7824" y="5157216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513892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历史投资相似度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22192" y="2798064"/>
            <a:ext cx="4617720" cy="2834640"/>
          </a:xfrm>
          <a:prstGeom prst="roundRect">
            <a:avLst>
              <a:gd name="adj" fmla="val 4516"/>
            </a:avLst>
          </a:prstGeom>
          <a:solidFill>
            <a:srgbClr val="EAF3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22192" y="2798064"/>
            <a:ext cx="4617720" cy="64008"/>
          </a:xfrm>
          <a:prstGeom prst="roundRect">
            <a:avLst>
              <a:gd name="adj" fmla="val 42857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9936" y="2944368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推荐企业池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059936" y="3456432"/>
            <a:ext cx="4142232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4096512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候选企业按照投资匹配逻辑分层呈现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096512" y="3913632"/>
            <a:ext cx="406908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9392" y="39684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候选企业画像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5486400" y="3977640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97764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产业链补链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73952" y="396849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技术能力与投资风格匹配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096512" y="4443984"/>
            <a:ext cx="406908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9392" y="44988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候选企业画像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5486400" y="4507992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4507992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区域协同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73952" y="4498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具备落地和合作空间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96512" y="4974336"/>
            <a:ext cx="406908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5029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候选企业画像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5486400" y="5038344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503834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成长潜力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73952" y="502920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符合目标阶段和发展方向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650224" y="2798064"/>
            <a:ext cx="2944368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50224" y="2798064"/>
            <a:ext cx="2944368" cy="64008"/>
          </a:xfrm>
          <a:prstGeom prst="roundRect">
            <a:avLst>
              <a:gd name="adj" fmla="val 42857"/>
            </a:avLst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推荐解释与动作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8887968" y="3456432"/>
            <a:ext cx="2468880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8924544" y="3547872"/>
            <a:ext cx="768096" cy="320040"/>
          </a:xfrm>
          <a:prstGeom prst="roundRect">
            <a:avLst>
              <a:gd name="adj" fmla="val 22857"/>
            </a:avLst>
          </a:prstGeom>
          <a:solidFill>
            <a:srgbClr val="EAFBFC"/>
          </a:solidFill>
          <a:ln w="12700">
            <a:solidFill>
              <a:srgbClr val="EAFBFC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24544" y="3547872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924544" y="395020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为什么推荐？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924544" y="4489704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89136" y="4370832"/>
            <a:ext cx="2167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说明匹配的产业逻辑</a:t>
            </a:r>
            <a:endParaRPr lang="en-US" sz="1070" dirty="0"/>
          </a:p>
        </p:txBody>
      </p:sp>
      <p:sp>
        <p:nvSpPr>
          <p:cNvPr id="67" name="Shape 65"/>
          <p:cNvSpPr/>
          <p:nvPr/>
        </p:nvSpPr>
        <p:spPr>
          <a:xfrm>
            <a:off x="8924544" y="4828032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89136" y="4709160"/>
            <a:ext cx="2167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展示企业优势和关注项</a:t>
            </a:r>
            <a:endParaRPr lang="en-US" sz="1070" dirty="0"/>
          </a:p>
        </p:txBody>
      </p:sp>
      <p:sp>
        <p:nvSpPr>
          <p:cNvPr id="69" name="Shape 67"/>
          <p:cNvSpPr/>
          <p:nvPr/>
        </p:nvSpPr>
        <p:spPr>
          <a:xfrm>
            <a:off x="8924544" y="5166360"/>
            <a:ext cx="73152" cy="73152"/>
          </a:xfrm>
          <a:prstGeom prst="ellipse">
            <a:avLst/>
          </a:prstGeom>
          <a:solidFill>
            <a:srgbClr val="3D8BFF"/>
          </a:solidFill>
          <a:ln w="12700">
            <a:solidFill>
              <a:srgbClr val="3D8B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89136" y="5047488"/>
            <a:ext cx="2167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支持收藏、比较、加入项目</a:t>
            </a:r>
            <a:endParaRPr lang="en-US" sz="1070" dirty="0"/>
          </a:p>
        </p:txBody>
      </p:sp>
      <p:sp>
        <p:nvSpPr>
          <p:cNvPr id="71" name="Shape 69"/>
          <p:cNvSpPr/>
          <p:nvPr/>
        </p:nvSpPr>
        <p:spPr>
          <a:xfrm>
            <a:off x="475488" y="5989320"/>
            <a:ext cx="11237976" cy="530352"/>
          </a:xfrm>
          <a:prstGeom prst="roundRect">
            <a:avLst>
              <a:gd name="adj" fmla="val 24138"/>
            </a:avLst>
          </a:prstGeom>
          <a:solidFill>
            <a:srgbClr val="EEF3FA"/>
          </a:solidFill>
          <a:ln w="12700">
            <a:solidFill>
              <a:srgbClr val="DCE6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60899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五链数据底座贯穿全流程</a:t>
            </a:r>
            <a:endParaRPr lang="en-US" sz="930" dirty="0"/>
          </a:p>
        </p:txBody>
      </p:sp>
      <p:sp>
        <p:nvSpPr>
          <p:cNvPr id="73" name="Shape 71"/>
          <p:cNvSpPr/>
          <p:nvPr/>
        </p:nvSpPr>
        <p:spPr>
          <a:xfrm>
            <a:off x="24231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231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040" dirty="0"/>
          </a:p>
        </p:txBody>
      </p:sp>
      <p:sp>
        <p:nvSpPr>
          <p:cNvPr id="75" name="Shape 73"/>
          <p:cNvSpPr/>
          <p:nvPr/>
        </p:nvSpPr>
        <p:spPr>
          <a:xfrm>
            <a:off x="38130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0233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18B9C2"/>
          </a:solidFill>
          <a:ln w="12700">
            <a:solidFill>
              <a:srgbClr val="18B9C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233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技术链</a:t>
            </a:r>
            <a:endParaRPr lang="en-US" sz="1040" dirty="0"/>
          </a:p>
        </p:txBody>
      </p:sp>
      <p:sp>
        <p:nvSpPr>
          <p:cNvPr id="78" name="Shape 76"/>
          <p:cNvSpPr/>
          <p:nvPr/>
        </p:nvSpPr>
        <p:spPr>
          <a:xfrm>
            <a:off x="54132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235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人才链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70134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资本链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86136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239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239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政策链</a:t>
            </a:r>
            <a:endParaRPr lang="en-US" sz="1040" dirty="0"/>
          </a:p>
        </p:txBody>
      </p:sp>
      <p:sp>
        <p:nvSpPr>
          <p:cNvPr id="87" name="Text 85"/>
          <p:cNvSpPr/>
          <p:nvPr/>
        </p:nvSpPr>
        <p:spPr>
          <a:xfrm>
            <a:off x="8229600" y="6574536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平台能力示意，实际结论以授权数据和业务审批为准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AI+产业/招投平台 · 全流程用户业务路径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从本地产业诊断到投后风控决策的数据驱动闭环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749808"/>
            <a:ext cx="11000232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987552"/>
            <a:ext cx="594360" cy="594360"/>
          </a:xfrm>
          <a:prstGeom prst="ellipse">
            <a:avLst/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923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AI企业画像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08176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将企业公开信息和产业关系统一为可比较、可追踪的投资对象画像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57232" y="1060704"/>
            <a:ext cx="14996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7232" y="106070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用户业务环节 3/5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66960" y="1399032"/>
            <a:ext cx="1353312" cy="0"/>
          </a:xfrm>
          <a:prstGeom prst="line">
            <a:avLst/>
          </a:prstGeom>
          <a:noFill/>
          <a:ln w="30480">
            <a:solidFill>
              <a:srgbClr val="18B9C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4360" y="1810512"/>
            <a:ext cx="11000232" cy="832104"/>
          </a:xfrm>
          <a:prstGeom prst="roundRect">
            <a:avLst>
              <a:gd name="adj" fmla="val 15385"/>
            </a:avLst>
          </a:prstGeom>
          <a:solidFill>
            <a:srgbClr val="122A54"/>
          </a:solidFill>
          <a:ln w="12700">
            <a:solidFill>
              <a:srgbClr val="122A5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002536"/>
            <a:ext cx="429768" cy="429768"/>
          </a:xfrm>
          <a:prstGeom prst="ellipse">
            <a:avLst/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99616" y="19385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AI企业画像摘要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9616" y="2267712"/>
            <a:ext cx="5852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汇聚九类信息，帮助用户快速判断企业是否值得继续投入尽调和谈判资源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96528" y="2075688"/>
            <a:ext cx="786384" cy="320040"/>
          </a:xfrm>
          <a:prstGeom prst="roundRect">
            <a:avLst>
              <a:gd name="adj" fmla="val 22857"/>
            </a:avLst>
          </a:prstGeom>
          <a:solidFill>
            <a:srgbClr val="EAFBFC"/>
          </a:solidFill>
          <a:ln w="12700">
            <a:solidFill>
              <a:srgbClr val="EAFB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0756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B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10928" y="2075688"/>
            <a:ext cx="786384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20756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25328" y="2075688"/>
            <a:ext cx="786384" cy="320040"/>
          </a:xfrm>
          <a:prstGeom prst="roundRect">
            <a:avLst>
              <a:gd name="adj" fmla="val 22857"/>
            </a:avLst>
          </a:prstGeom>
          <a:solidFill>
            <a:srgbClr val="F1EEFF"/>
          </a:solidFill>
          <a:ln w="12700">
            <a:solidFill>
              <a:srgbClr val="F1EE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25328" y="2075688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2889504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889504"/>
            <a:ext cx="73152" cy="758952"/>
          </a:xfrm>
          <a:prstGeom prst="roundRect">
            <a:avLst>
              <a:gd name="adj" fmla="val 37500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6265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5528" y="32552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核验主体、股权与经营基础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270248" y="2889504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2889504"/>
            <a:ext cx="73152" cy="758952"/>
          </a:xfrm>
          <a:prstGeom prst="roundRect">
            <a:avLst>
              <a:gd name="adj" fmla="val 37500"/>
            </a:avLst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1416" y="296265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71416" y="32552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识别诉讼、执行与合规风险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946136" y="2889504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46136" y="2889504"/>
            <a:ext cx="73152" cy="758952"/>
          </a:xfrm>
          <a:prstGeom prst="roundRect">
            <a:avLst>
              <a:gd name="adj" fmla="val 37500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7304" y="296265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舆情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47304" y="3255264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观察企业声誉与外部变化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94360" y="3794760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794760"/>
            <a:ext cx="73152" cy="758952"/>
          </a:xfrm>
          <a:prstGeom prst="roundRect">
            <a:avLst>
              <a:gd name="adj" fmla="val 37500"/>
            </a:avLst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3867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" y="41605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判断经营质量、成长与现金流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270248" y="3794760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0248" y="3794760"/>
            <a:ext cx="73152" cy="758952"/>
          </a:xfrm>
          <a:prstGeom prst="roundRect">
            <a:avLst>
              <a:gd name="adj" fmla="val 37500"/>
            </a:avLst>
          </a:prstGeom>
          <a:solidFill>
            <a:srgbClr val="6554C0"/>
          </a:solidFill>
          <a:ln w="12700">
            <a:solidFill>
              <a:srgbClr val="6554C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3867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471416" y="41605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识别专利、研发和技术壁垒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946136" y="3794760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46136" y="3794760"/>
            <a:ext cx="73152" cy="758952"/>
          </a:xfrm>
          <a:prstGeom prst="roundRect">
            <a:avLst>
              <a:gd name="adj" fmla="val 37500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47304" y="3867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147304" y="41605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分析核心团队和人才结构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594360" y="4700016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4700016"/>
            <a:ext cx="73152" cy="758952"/>
          </a:xfrm>
          <a:prstGeom prst="roundRect">
            <a:avLst>
              <a:gd name="adj" fmla="val 37500"/>
            </a:avLst>
          </a:prstGeom>
          <a:solidFill>
            <a:srgbClr val="18B9C2"/>
          </a:solidFill>
          <a:ln w="12700">
            <a:solidFill>
              <a:srgbClr val="18B9C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" y="477316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95528" y="506577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定位上下游关系和产业位置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270248" y="4700016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70248" y="4700016"/>
            <a:ext cx="73152" cy="758952"/>
          </a:xfrm>
          <a:prstGeom prst="roundRect">
            <a:avLst>
              <a:gd name="adj" fmla="val 37500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71416" y="477316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综合评价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471416" y="506577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形成优势、风险和关注事项摘要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7946136" y="4700016"/>
            <a:ext cx="3438144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46136" y="4700016"/>
            <a:ext cx="73152" cy="758952"/>
          </a:xfrm>
          <a:prstGeom prst="roundRect">
            <a:avLst>
              <a:gd name="adj" fmla="val 37500"/>
            </a:avLst>
          </a:prstGeom>
          <a:solidFill>
            <a:srgbClr val="122A54"/>
          </a:solidFill>
          <a:ln w="12700">
            <a:solidFill>
              <a:srgbClr val="122A5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47304" y="477316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同业公司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147304" y="506577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支持横向对标和竞争位置判断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475488" y="5989320"/>
            <a:ext cx="11237976" cy="530352"/>
          </a:xfrm>
          <a:prstGeom prst="roundRect">
            <a:avLst>
              <a:gd name="adj" fmla="val 24138"/>
            </a:avLst>
          </a:prstGeom>
          <a:solidFill>
            <a:srgbClr val="EEF3FA"/>
          </a:solidFill>
          <a:ln w="12700">
            <a:solidFill>
              <a:srgbClr val="DCE6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60899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五链数据底座贯穿全流程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24231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231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38130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233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技术链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54132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235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235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人才链</a:t>
            </a:r>
            <a:endParaRPr lang="en-US" sz="1040" dirty="0"/>
          </a:p>
        </p:txBody>
      </p:sp>
      <p:sp>
        <p:nvSpPr>
          <p:cNvPr id="69" name="Shape 67"/>
          <p:cNvSpPr/>
          <p:nvPr/>
        </p:nvSpPr>
        <p:spPr>
          <a:xfrm>
            <a:off x="70134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237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资本链</a:t>
            </a:r>
            <a:endParaRPr lang="en-US" sz="1040" dirty="0"/>
          </a:p>
        </p:txBody>
      </p:sp>
      <p:sp>
        <p:nvSpPr>
          <p:cNvPr id="72" name="Shape 70"/>
          <p:cNvSpPr/>
          <p:nvPr/>
        </p:nvSpPr>
        <p:spPr>
          <a:xfrm>
            <a:off x="86136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239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239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政策链</a:t>
            </a:r>
            <a:endParaRPr lang="en-US" sz="1040" dirty="0"/>
          </a:p>
        </p:txBody>
      </p:sp>
      <p:sp>
        <p:nvSpPr>
          <p:cNvPr id="75" name="Text 73"/>
          <p:cNvSpPr/>
          <p:nvPr/>
        </p:nvSpPr>
        <p:spPr>
          <a:xfrm>
            <a:off x="8229600" y="6574536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平台能力示意，实际结论以授权数据和业务审批为准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AI+产业/招投平台 · 全流程用户业务路径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从本地产业诊断到投后风控决策的数据驱动闭环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749808"/>
            <a:ext cx="11000232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987552"/>
            <a:ext cx="594360" cy="594360"/>
          </a:xfrm>
          <a:prstGeom prst="ellipse">
            <a:avLst/>
          </a:prstGeom>
          <a:solidFill>
            <a:srgbClr val="6554C0"/>
          </a:solidFill>
          <a:ln w="12700">
            <a:solidFill>
              <a:srgbClr val="6554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923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智能尽调审核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08176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把资料提交、尽调分析、合同审查和投资决策依据串成一次可追溯任务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57232" y="1060704"/>
            <a:ext cx="14996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7232" y="106070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用户业务环节 4/5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66960" y="1399032"/>
            <a:ext cx="1353312" cy="0"/>
          </a:xfrm>
          <a:prstGeom prst="line">
            <a:avLst/>
          </a:prstGeom>
          <a:noFill/>
          <a:ln w="30480">
            <a:solidFill>
              <a:srgbClr val="6554C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4360" y="1810512"/>
            <a:ext cx="2907792" cy="3913632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810512"/>
            <a:ext cx="2907792" cy="64008"/>
          </a:xfrm>
          <a:prstGeom prst="roundRect">
            <a:avLst>
              <a:gd name="adj" fmla="val 42857"/>
            </a:avLst>
          </a:prstGeom>
          <a:solidFill>
            <a:srgbClr val="6554C0"/>
          </a:solidFill>
          <a:ln w="12700">
            <a:solidFill>
              <a:srgbClr val="6554C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195681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资料任务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104" y="2468880"/>
            <a:ext cx="2432304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68680" y="2578608"/>
            <a:ext cx="1060704" cy="320040"/>
          </a:xfrm>
          <a:prstGeom prst="roundRect">
            <a:avLst>
              <a:gd name="adj" fmla="val 22857"/>
            </a:avLst>
          </a:prstGeom>
          <a:solidFill>
            <a:srgbClr val="F1EEFF"/>
          </a:solidFill>
          <a:ln w="12700">
            <a:solidFill>
              <a:srgbClr val="F1EE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78608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尽调智能体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93392" y="2578608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257860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提交资料后，智能体先完成分类、解析和状态跟踪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3730752"/>
            <a:ext cx="256032" cy="256032"/>
          </a:xfrm>
          <a:prstGeom prst="ellipse">
            <a:avLst/>
          </a:prstGeom>
          <a:solidFill>
            <a:srgbClr val="F1EE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856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98448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14016" y="3675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6112" y="4178808"/>
            <a:ext cx="256032" cy="256032"/>
          </a:xfrm>
          <a:prstGeom prst="ellipse">
            <a:avLst/>
          </a:prstGeom>
          <a:solidFill>
            <a:srgbClr val="F1EE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2336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98448" y="412394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财务资料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14016" y="4123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" y="4626864"/>
            <a:ext cx="256032" cy="256032"/>
          </a:xfrm>
          <a:prstGeom prst="ellipse">
            <a:avLst/>
          </a:prstGeom>
          <a:solidFill>
            <a:srgbClr val="F1EE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6817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98448" y="4572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投资协议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14016" y="4572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6112" y="5074920"/>
            <a:ext cx="256032" cy="256032"/>
          </a:xfrm>
          <a:prstGeom prst="ellipse">
            <a:avLst/>
          </a:prstGeom>
          <a:solidFill>
            <a:srgbClr val="F1EEFF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1297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298448" y="50200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14016" y="5020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可选资料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8680" y="54498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系统入口：skill合集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67328" y="1810512"/>
            <a:ext cx="4041648" cy="3913632"/>
          </a:xfrm>
          <a:prstGeom prst="roundRect">
            <a:avLst>
              <a:gd name="adj" fmla="val 3271"/>
            </a:avLst>
          </a:prstGeom>
          <a:solidFill>
            <a:srgbClr val="EAF3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67328" y="1810512"/>
            <a:ext cx="4041648" cy="64008"/>
          </a:xfrm>
          <a:prstGeom prst="roundRect">
            <a:avLst>
              <a:gd name="adj" fmla="val 42857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1956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智能体工作流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005072" y="2468880"/>
            <a:ext cx="3566160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4041648" y="25786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从原始资料到投资判断依据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08576" y="3218688"/>
            <a:ext cx="0" cy="1965960"/>
          </a:xfrm>
          <a:prstGeom prst="line">
            <a:avLst/>
          </a:prstGeom>
          <a:noFill/>
          <a:ln w="27940">
            <a:solidFill>
              <a:srgbClr val="3D8BFF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416552" y="303580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31272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47488" y="30266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资料解析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53328" y="3026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识别文件结构和关键字段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416552" y="360273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16552" y="36941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47488" y="3593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事实抽取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53328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形成企业事实和证据索引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4416552" y="4169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42611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47488" y="41605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53328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标注异常、缺失和风险条款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4416552" y="4736592"/>
            <a:ext cx="384048" cy="384048"/>
          </a:xfrm>
          <a:prstGeom prst="ellipse">
            <a:avLst/>
          </a:prstGeom>
          <a:solidFill>
            <a:srgbClr val="6554C0"/>
          </a:solidFill>
          <a:ln w="19050">
            <a:solidFill>
              <a:srgbClr val="3D8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48280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047488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结论生成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053328" y="4727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输出报告、建议和待确认项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8074152" y="1810512"/>
            <a:ext cx="3520440" cy="3913632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74152" y="1810512"/>
            <a:ext cx="3520440" cy="64008"/>
          </a:xfrm>
          <a:prstGeom prst="roundRect">
            <a:avLst>
              <a:gd name="adj" fmla="val 42857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11896" y="195681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审核结果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8311896" y="2468880"/>
            <a:ext cx="3044952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348472" y="2578608"/>
            <a:ext cx="877824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48472" y="257860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348472" y="29900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让审核结果可读、可追溯、可复核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8348472" y="3584448"/>
            <a:ext cx="2944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48472" y="3584448"/>
            <a:ext cx="73152" cy="502920"/>
          </a:xfrm>
          <a:prstGeom prst="roundRect">
            <a:avLst>
              <a:gd name="adj" fmla="val 25000"/>
            </a:avLst>
          </a:prstGeom>
          <a:solidFill>
            <a:srgbClr val="6554C0"/>
          </a:solidFill>
          <a:ln w="12700">
            <a:solidFill>
              <a:srgbClr val="6554C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31352" y="3675888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1EEFF"/>
          </a:solidFill>
          <a:ln w="12700">
            <a:solidFill>
              <a:srgbClr val="F1EE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31352" y="3675888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5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518904" y="3657600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形成报告章节与问题清单</a:t>
            </a:r>
            <a:endParaRPr lang="en-US" sz="960" dirty="0"/>
          </a:p>
        </p:txBody>
      </p:sp>
      <p:sp>
        <p:nvSpPr>
          <p:cNvPr id="72" name="Shape 70"/>
          <p:cNvSpPr/>
          <p:nvPr/>
        </p:nvSpPr>
        <p:spPr>
          <a:xfrm>
            <a:off x="8348472" y="4187952"/>
            <a:ext cx="2944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48472" y="4187952"/>
            <a:ext cx="73152" cy="502920"/>
          </a:xfrm>
          <a:prstGeom prst="roundRect">
            <a:avLst>
              <a:gd name="adj" fmla="val 25000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31352" y="4279392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31352" y="4279392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518904" y="4261104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标记风险条款与修改建议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8348472" y="4791456"/>
            <a:ext cx="294436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48472" y="4791456"/>
            <a:ext cx="73152" cy="502920"/>
          </a:xfrm>
          <a:prstGeom prst="roundRect">
            <a:avLst>
              <a:gd name="adj" fmla="val 25000"/>
            </a:avLst>
          </a:prstGeom>
          <a:solidFill>
            <a:srgbClr val="1E70E8"/>
          </a:solidFill>
          <a:ln w="12700">
            <a:solidFill>
              <a:srgbClr val="1E70E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4882896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31352" y="488289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518904" y="4864608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沉淀为投委会决策材料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475488" y="5989320"/>
            <a:ext cx="11237976" cy="530352"/>
          </a:xfrm>
          <a:prstGeom prst="roundRect">
            <a:avLst>
              <a:gd name="adj" fmla="val 24138"/>
            </a:avLst>
          </a:prstGeom>
          <a:solidFill>
            <a:srgbClr val="EEF3FA"/>
          </a:solidFill>
          <a:ln w="12700">
            <a:solidFill>
              <a:srgbClr val="DCE6F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3232" y="60899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五链数据底座贯穿全流程</a:t>
            </a:r>
            <a:endParaRPr lang="en-US" sz="930" dirty="0"/>
          </a:p>
        </p:txBody>
      </p:sp>
      <p:sp>
        <p:nvSpPr>
          <p:cNvPr id="84" name="Shape 82"/>
          <p:cNvSpPr/>
          <p:nvPr/>
        </p:nvSpPr>
        <p:spPr>
          <a:xfrm>
            <a:off x="24231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231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040" dirty="0"/>
          </a:p>
        </p:txBody>
      </p:sp>
      <p:sp>
        <p:nvSpPr>
          <p:cNvPr id="86" name="Shape 84"/>
          <p:cNvSpPr/>
          <p:nvPr/>
        </p:nvSpPr>
        <p:spPr>
          <a:xfrm>
            <a:off x="38130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233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233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技术链</a:t>
            </a:r>
            <a:endParaRPr lang="en-US" sz="1040" dirty="0"/>
          </a:p>
        </p:txBody>
      </p:sp>
      <p:sp>
        <p:nvSpPr>
          <p:cNvPr id="89" name="Shape 87"/>
          <p:cNvSpPr/>
          <p:nvPr/>
        </p:nvSpPr>
        <p:spPr>
          <a:xfrm>
            <a:off x="54132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235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235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人才链</a:t>
            </a:r>
            <a:endParaRPr lang="en-US" sz="1040" dirty="0"/>
          </a:p>
        </p:txBody>
      </p:sp>
      <p:sp>
        <p:nvSpPr>
          <p:cNvPr id="92" name="Shape 90"/>
          <p:cNvSpPr/>
          <p:nvPr/>
        </p:nvSpPr>
        <p:spPr>
          <a:xfrm>
            <a:off x="70134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2237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39A1B"/>
          </a:solidFill>
          <a:ln w="12700">
            <a:solidFill>
              <a:srgbClr val="F39A1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237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资本链</a:t>
            </a:r>
            <a:endParaRPr lang="en-US" sz="1040" dirty="0"/>
          </a:p>
        </p:txBody>
      </p:sp>
      <p:sp>
        <p:nvSpPr>
          <p:cNvPr id="95" name="Shape 93"/>
          <p:cNvSpPr/>
          <p:nvPr/>
        </p:nvSpPr>
        <p:spPr>
          <a:xfrm>
            <a:off x="86136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8239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8239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政策链</a:t>
            </a:r>
            <a:endParaRPr lang="en-US" sz="1040" dirty="0"/>
          </a:p>
        </p:txBody>
      </p:sp>
      <p:sp>
        <p:nvSpPr>
          <p:cNvPr id="98" name="Text 96"/>
          <p:cNvSpPr/>
          <p:nvPr/>
        </p:nvSpPr>
        <p:spPr>
          <a:xfrm>
            <a:off x="8229600" y="6574536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平台能力示意，实际结论以授权数据和业务审批为准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E7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AI+产业/招投平台 · 全流程用户业务路径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从本地产业诊断到投后风控决策的数据驱动闭环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749808"/>
            <a:ext cx="11000232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21792" y="987552"/>
            <a:ext cx="594360" cy="594360"/>
          </a:xfrm>
          <a:prstGeom prst="ellipse">
            <a:avLst/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9235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投后风控决策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08176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持续监测企业变化，把风险预警、估值建议和管理动作闭环到投后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857232" y="1060704"/>
            <a:ext cx="14996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7232" y="1060704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用户业务环节 5/5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66960" y="1399032"/>
            <a:ext cx="1353312" cy="0"/>
          </a:xfrm>
          <a:prstGeom prst="line">
            <a:avLst/>
          </a:prstGeom>
          <a:noFill/>
          <a:ln w="30480">
            <a:solidFill>
              <a:srgbClr val="E75B5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4360" y="1810512"/>
            <a:ext cx="11000232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810512"/>
            <a:ext cx="11000232" cy="64008"/>
          </a:xfrm>
          <a:prstGeom prst="roundRect">
            <a:avLst>
              <a:gd name="adj" fmla="val 42857"/>
            </a:avLst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1956816"/>
            <a:ext cx="1052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投后监测闭环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104" y="2468880"/>
            <a:ext cx="10524744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68680" y="2578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从数据变化到管理决策，形成持续迭代的投后工作机制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01168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5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76672" y="2496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08192" y="2093976"/>
            <a:ext cx="301752" cy="237744"/>
          </a:xfrm>
          <a:prstGeom prst="chevron">
            <a:avLst/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201168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5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2496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变化识别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87184" y="2093976"/>
            <a:ext cx="301752" cy="237744"/>
          </a:xfrm>
          <a:prstGeom prst="chevron">
            <a:avLst/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35824" y="2011680"/>
            <a:ext cx="402336" cy="402336"/>
          </a:xfrm>
          <a:prstGeom prst="ellipse">
            <a:avLst/>
          </a:prstGeom>
          <a:solidFill>
            <a:srgbClr val="E75B5B"/>
          </a:solidFill>
          <a:ln w="19050">
            <a:solidFill>
              <a:srgbClr val="E7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34656" y="2496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66176" y="2093976"/>
            <a:ext cx="301752" cy="237744"/>
          </a:xfrm>
          <a:prstGeom prst="chevron">
            <a:avLst/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4816" y="201168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5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1481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13648" y="2496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责任处置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45168" y="2093976"/>
            <a:ext cx="301752" cy="237744"/>
          </a:xfrm>
          <a:prstGeom prst="chevron">
            <a:avLst/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93808" y="201168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75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0" y="2496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决策复盘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" y="3182112"/>
            <a:ext cx="6419088" cy="2450592"/>
          </a:xfrm>
          <a:prstGeom prst="roundRect">
            <a:avLst>
              <a:gd name="adj" fmla="val 5224"/>
            </a:avLst>
          </a:prstGeom>
          <a:solidFill>
            <a:srgbClr val="FFF0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3182112"/>
            <a:ext cx="6419088" cy="64008"/>
          </a:xfrm>
          <a:prstGeom prst="roundRect">
            <a:avLst>
              <a:gd name="adj" fmla="val 42857"/>
            </a:avLst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33284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风险监测与管理动作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32104" y="3840480"/>
            <a:ext cx="5943600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68680" y="3922776"/>
            <a:ext cx="877824" cy="320040"/>
          </a:xfrm>
          <a:prstGeom prst="roundRect">
            <a:avLst>
              <a:gd name="adj" fmla="val 22857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3922776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实时感知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38528" y="393192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企业画像指标发生变化后，系统自动进入风险处理流程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868680" y="4370832"/>
            <a:ext cx="5870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" y="4370832"/>
            <a:ext cx="73152" cy="502920"/>
          </a:xfrm>
          <a:prstGeom prst="roundRect">
            <a:avLst>
              <a:gd name="adj" fmla="val 25000"/>
            </a:avLst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" y="4462272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462272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经营与财务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39112" y="4443984"/>
            <a:ext cx="4517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识别趋势变化，提示经营质量关注项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868680" y="4764024"/>
            <a:ext cx="5870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" y="4764024"/>
            <a:ext cx="73152" cy="502920"/>
          </a:xfrm>
          <a:prstGeom prst="roundRect">
            <a:avLst>
              <a:gd name="adj" fmla="val 25000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1560" y="4855464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4855464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司法与舆情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039112" y="4837176"/>
            <a:ext cx="4517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发现外部风险，形成预警和跟踪任务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68680" y="5157216"/>
            <a:ext cx="5870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" y="5157216"/>
            <a:ext cx="73152" cy="502920"/>
          </a:xfrm>
          <a:prstGeom prst="roundRect">
            <a:avLst>
              <a:gd name="adj" fmla="val 25000"/>
            </a:avLst>
          </a:prstGeom>
          <a:solidFill>
            <a:srgbClr val="E75B5B"/>
          </a:solidFill>
          <a:ln w="12700">
            <a:solidFill>
              <a:srgbClr val="E75B5B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" y="5248656"/>
            <a:ext cx="859536" cy="320040"/>
          </a:xfrm>
          <a:prstGeom prst="roundRect">
            <a:avLst>
              <a:gd name="adj" fmla="val 22857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52486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技术与人才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039112" y="5230368"/>
            <a:ext cx="4517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监测核心能力变化，支持投后判断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7269480" y="3182112"/>
            <a:ext cx="4325112" cy="24505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69480" y="3182112"/>
            <a:ext cx="4325112" cy="64008"/>
          </a:xfrm>
          <a:prstGeom prst="roundRect">
            <a:avLst>
              <a:gd name="adj" fmla="val 42857"/>
            </a:avLst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07224" y="3328416"/>
            <a:ext cx="3849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决策输出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507224" y="3840480"/>
            <a:ext cx="3849624" cy="0"/>
          </a:xfrm>
          <a:prstGeom prst="line">
            <a:avLst/>
          </a:prstGeom>
          <a:noFill/>
          <a:ln w="10160">
            <a:solidFill>
              <a:srgbClr val="D8E2F0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7543800" y="3922776"/>
            <a:ext cx="768096" cy="320040"/>
          </a:xfrm>
          <a:prstGeom prst="roundRect">
            <a:avLst>
              <a:gd name="adj" fmla="val 22857"/>
            </a:avLst>
          </a:prstGeom>
          <a:solidFill>
            <a:srgbClr val="FFF5E5"/>
          </a:solidFill>
          <a:ln w="12700">
            <a:solidFill>
              <a:srgbClr val="FFF5E5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3922776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522208" y="39319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风险不是终点，处置结果继续服务下一轮投资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7562088" y="4517136"/>
            <a:ext cx="73152" cy="73152"/>
          </a:xfrm>
          <a:prstGeom prst="ellipse">
            <a:avLst/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63256" y="44531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估值建议</a:t>
            </a:r>
            <a:endParaRPr lang="en-US" sz="1030" dirty="0"/>
          </a:p>
        </p:txBody>
      </p:sp>
      <p:sp>
        <p:nvSpPr>
          <p:cNvPr id="67" name="Text 65"/>
          <p:cNvSpPr/>
          <p:nvPr/>
        </p:nvSpPr>
        <p:spPr>
          <a:xfrm>
            <a:off x="8577072" y="445312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结合经营变化和同业信息提供参考</a:t>
            </a:r>
            <a:endParaRPr lang="en-US" sz="910" dirty="0"/>
          </a:p>
        </p:txBody>
      </p:sp>
      <p:sp>
        <p:nvSpPr>
          <p:cNvPr id="68" name="Shape 66"/>
          <p:cNvSpPr/>
          <p:nvPr/>
        </p:nvSpPr>
        <p:spPr>
          <a:xfrm>
            <a:off x="7562088" y="4864608"/>
            <a:ext cx="73152" cy="73152"/>
          </a:xfrm>
          <a:prstGeom prst="ellipse">
            <a:avLst/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63256" y="480060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</a:t>
            </a:r>
            <a:endParaRPr lang="en-US" sz="1030" dirty="0"/>
          </a:p>
        </p:txBody>
      </p:sp>
      <p:sp>
        <p:nvSpPr>
          <p:cNvPr id="70" name="Text 68"/>
          <p:cNvSpPr/>
          <p:nvPr/>
        </p:nvSpPr>
        <p:spPr>
          <a:xfrm>
            <a:off x="8577072" y="480060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分派责任、跟踪处置并形成闭环</a:t>
            </a:r>
            <a:endParaRPr lang="en-US" sz="910" dirty="0"/>
          </a:p>
        </p:txBody>
      </p:sp>
      <p:sp>
        <p:nvSpPr>
          <p:cNvPr id="71" name="Shape 69"/>
          <p:cNvSpPr/>
          <p:nvPr/>
        </p:nvSpPr>
        <p:spPr>
          <a:xfrm>
            <a:off x="7562088" y="5212080"/>
            <a:ext cx="73152" cy="73152"/>
          </a:xfrm>
          <a:prstGeom prst="ellipse">
            <a:avLst/>
          </a:prstGeom>
          <a:solidFill>
            <a:srgbClr val="F39A1B"/>
          </a:solidFill>
          <a:ln w="12700">
            <a:solidFill>
              <a:srgbClr val="F39A1B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63256" y="51480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F31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8577072" y="514807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将投后结果回流投资风格和推荐模型</a:t>
            </a:r>
            <a:endParaRPr lang="en-US" sz="910" dirty="0"/>
          </a:p>
        </p:txBody>
      </p:sp>
      <p:sp>
        <p:nvSpPr>
          <p:cNvPr id="74" name="Shape 72"/>
          <p:cNvSpPr/>
          <p:nvPr/>
        </p:nvSpPr>
        <p:spPr>
          <a:xfrm>
            <a:off x="475488" y="5989320"/>
            <a:ext cx="11237976" cy="530352"/>
          </a:xfrm>
          <a:prstGeom prst="roundRect">
            <a:avLst>
              <a:gd name="adj" fmla="val 24138"/>
            </a:avLst>
          </a:prstGeom>
          <a:solidFill>
            <a:srgbClr val="EEF3FA"/>
          </a:solidFill>
          <a:ln w="12700">
            <a:solidFill>
              <a:srgbClr val="DCE6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" y="60899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五链数据底座贯穿全流程</a:t>
            </a:r>
            <a:endParaRPr lang="en-US" sz="930" dirty="0"/>
          </a:p>
        </p:txBody>
      </p:sp>
      <p:sp>
        <p:nvSpPr>
          <p:cNvPr id="76" name="Shape 74"/>
          <p:cNvSpPr/>
          <p:nvPr/>
        </p:nvSpPr>
        <p:spPr>
          <a:xfrm>
            <a:off x="24231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231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</a:t>
            </a:r>
            <a:endParaRPr lang="en-US" sz="1040" dirty="0"/>
          </a:p>
        </p:txBody>
      </p:sp>
      <p:sp>
        <p:nvSpPr>
          <p:cNvPr id="78" name="Shape 76"/>
          <p:cNvSpPr/>
          <p:nvPr/>
        </p:nvSpPr>
        <p:spPr>
          <a:xfrm>
            <a:off x="38130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0233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233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技术链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54132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235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235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人才链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70134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237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237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3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资本链</a:t>
            </a:r>
            <a:endParaRPr lang="en-US" sz="1040" dirty="0"/>
          </a:p>
        </p:txBody>
      </p:sp>
      <p:sp>
        <p:nvSpPr>
          <p:cNvPr id="87" name="Shape 85"/>
          <p:cNvSpPr/>
          <p:nvPr/>
        </p:nvSpPr>
        <p:spPr>
          <a:xfrm>
            <a:off x="8613648" y="6144768"/>
            <a:ext cx="128016" cy="237744"/>
          </a:xfrm>
          <a:prstGeom prst="chevron">
            <a:avLst/>
          </a:prstGeom>
          <a:solidFill>
            <a:srgbClr val="8D9AAF"/>
          </a:solidFill>
          <a:ln w="12700">
            <a:solidFill>
              <a:srgbClr val="8D9AA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23960" y="6126480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122A54"/>
          </a:solidFill>
          <a:ln w="12700">
            <a:solidFill>
              <a:srgbClr val="122A5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823960" y="61264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政策链</a:t>
            </a:r>
            <a:endParaRPr lang="en-US" sz="1040" dirty="0"/>
          </a:p>
        </p:txBody>
      </p:sp>
      <p:sp>
        <p:nvSpPr>
          <p:cNvPr id="90" name="Text 88"/>
          <p:cNvSpPr/>
          <p:nvPr/>
        </p:nvSpPr>
        <p:spPr>
          <a:xfrm>
            <a:off x="8229600" y="6574536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D9A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平台能力示意，实际结论以授权数据和业务审批为准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南通产控集团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AI+产业/招投平台·全流程用户业务路径</dc:title>
  <dc:subject>AI+产业/招投平台全流程用户业务路径</dc:subject>
  <dc:creator>南通产控AI产业招投平台</dc:creator>
  <cp:lastModifiedBy>南通产控AI产业招投平台</cp:lastModifiedBy>
  <cp:revision>1</cp:revision>
  <dcterms:created xsi:type="dcterms:W3CDTF">2026-07-13T09:56:13Z</dcterms:created>
  <dcterms:modified xsi:type="dcterms:W3CDTF">2026-07-13T09:56:13Z</dcterms:modified>
</cp:coreProperties>
</file>